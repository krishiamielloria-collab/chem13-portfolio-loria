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galin" charset="1" panose="00000500000000000000"/>
      <p:regular r:id="rId16"/>
    </p:embeddedFont>
    <p:embeddedFont>
      <p:font typeface="Aloja" charset="1" panose="02000500000000000000"/>
      <p:regular r:id="rId17"/>
    </p:embeddedFont>
    <p:embeddedFont>
      <p:font typeface="Canva Sans Bold" charset="1" panose="020B0803030501040103"/>
      <p:regular r:id="rId18"/>
    </p:embeddedFont>
    <p:embeddedFont>
      <p:font typeface="Open Sauce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44929" y="1954059"/>
            <a:ext cx="4271519" cy="2814202"/>
          </a:xfrm>
          <a:custGeom>
            <a:avLst/>
            <a:gdLst/>
            <a:ahLst/>
            <a:cxnLst/>
            <a:rect r="r" b="b" t="t" l="l"/>
            <a:pathLst>
              <a:path h="2814202" w="4271519">
                <a:moveTo>
                  <a:pt x="0" y="0"/>
                </a:moveTo>
                <a:lnTo>
                  <a:pt x="4271519" y="0"/>
                </a:lnTo>
                <a:lnTo>
                  <a:pt x="4271519" y="2814203"/>
                </a:lnTo>
                <a:lnTo>
                  <a:pt x="0" y="2814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165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59519" y="6087646"/>
            <a:ext cx="4812702" cy="1732573"/>
          </a:xfrm>
          <a:custGeom>
            <a:avLst/>
            <a:gdLst/>
            <a:ahLst/>
            <a:cxnLst/>
            <a:rect r="r" b="b" t="t" l="l"/>
            <a:pathLst>
              <a:path h="1732573" w="4812702">
                <a:moveTo>
                  <a:pt x="0" y="0"/>
                </a:moveTo>
                <a:lnTo>
                  <a:pt x="4812701" y="0"/>
                </a:lnTo>
                <a:lnTo>
                  <a:pt x="4812701" y="1732573"/>
                </a:lnTo>
                <a:lnTo>
                  <a:pt x="0" y="17325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87769" y="-142875"/>
            <a:ext cx="6791439" cy="12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3"/>
              </a:lnSpc>
            </a:pPr>
            <a:r>
              <a:rPr lang="en-US" sz="7409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1-PROPANE (C₃H₈)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726478"/>
            <a:ext cx="70363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C₃H₈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27082" y="6462760"/>
            <a:ext cx="36395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CH₃CH₂CH₃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916765"/>
            <a:ext cx="7818181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3 C, 8 H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each C has 4 bonds, each H has 1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CH₃CH₂CH₃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2371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44929" y="1810550"/>
            <a:ext cx="4271519" cy="2814202"/>
          </a:xfrm>
          <a:custGeom>
            <a:avLst/>
            <a:gdLst/>
            <a:ahLst/>
            <a:cxnLst/>
            <a:rect r="r" b="b" t="t" l="l"/>
            <a:pathLst>
              <a:path h="2814202" w="4271519">
                <a:moveTo>
                  <a:pt x="0" y="0"/>
                </a:moveTo>
                <a:lnTo>
                  <a:pt x="4271519" y="0"/>
                </a:lnTo>
                <a:lnTo>
                  <a:pt x="4271519" y="2814202"/>
                </a:lnTo>
                <a:lnTo>
                  <a:pt x="0" y="2814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589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59519" y="6087646"/>
            <a:ext cx="4812702" cy="1732573"/>
          </a:xfrm>
          <a:custGeom>
            <a:avLst/>
            <a:gdLst/>
            <a:ahLst/>
            <a:cxnLst/>
            <a:rect r="r" b="b" t="t" l="l"/>
            <a:pathLst>
              <a:path h="1732573" w="4812702">
                <a:moveTo>
                  <a:pt x="0" y="0"/>
                </a:moveTo>
                <a:lnTo>
                  <a:pt x="4812701" y="0"/>
                </a:lnTo>
                <a:lnTo>
                  <a:pt x="4812701" y="1732573"/>
                </a:lnTo>
                <a:lnTo>
                  <a:pt x="0" y="17325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138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41930" y="-142875"/>
            <a:ext cx="7483118" cy="12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3"/>
              </a:lnSpc>
            </a:pPr>
            <a:r>
              <a:rPr lang="en-US" sz="7409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2-Ethanol (c₂h₆o)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6207" y="2651768"/>
            <a:ext cx="18608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C₂H</a:t>
            </a: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₆o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18998" y="6407852"/>
            <a:ext cx="345576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CH₃CH₂OH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983440"/>
            <a:ext cx="8354789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2 C, 6 H, 1 O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C 4 bonds, O 2 bonds, + 2 lone pairs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CH₃CH₂OH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10267" y="5502917"/>
            <a:ext cx="3066679" cy="2944012"/>
          </a:xfrm>
          <a:custGeom>
            <a:avLst/>
            <a:gdLst/>
            <a:ahLst/>
            <a:cxnLst/>
            <a:rect r="r" b="b" t="t" l="l"/>
            <a:pathLst>
              <a:path h="2944012" w="3066679">
                <a:moveTo>
                  <a:pt x="0" y="0"/>
                </a:moveTo>
                <a:lnTo>
                  <a:pt x="3066680" y="0"/>
                </a:lnTo>
                <a:lnTo>
                  <a:pt x="3066680" y="2944012"/>
                </a:lnTo>
                <a:lnTo>
                  <a:pt x="0" y="2944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81065" y="2033949"/>
            <a:ext cx="4599246" cy="3044341"/>
          </a:xfrm>
          <a:custGeom>
            <a:avLst/>
            <a:gdLst/>
            <a:ahLst/>
            <a:cxnLst/>
            <a:rect r="r" b="b" t="t" l="l"/>
            <a:pathLst>
              <a:path h="3044341" w="4599246">
                <a:moveTo>
                  <a:pt x="0" y="0"/>
                </a:moveTo>
                <a:lnTo>
                  <a:pt x="4599246" y="0"/>
                </a:lnTo>
                <a:lnTo>
                  <a:pt x="4599246" y="3044341"/>
                </a:lnTo>
                <a:lnTo>
                  <a:pt x="0" y="30443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2068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80126" y="-142875"/>
            <a:ext cx="11206725" cy="12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3"/>
              </a:lnSpc>
            </a:pPr>
            <a:r>
              <a:rPr lang="en-US" sz="7409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3</a:t>
            </a:r>
            <a:r>
              <a:rPr lang="en-US" sz="7409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-aCETONE (PROPAN-2-ONE)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4731" y="6462760"/>
            <a:ext cx="70363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CH₃C(=O)CH₃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53573" y="2679696"/>
            <a:ext cx="318661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C₃H₆O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916765"/>
            <a:ext cx="9045808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3 C, 6 H, 1 O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C=o counts as 2 bonds, O has 2 lone pairs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CH₃C(=O)CH₃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17703" y="5712467"/>
            <a:ext cx="3394077" cy="2974446"/>
          </a:xfrm>
          <a:custGeom>
            <a:avLst/>
            <a:gdLst/>
            <a:ahLst/>
            <a:cxnLst/>
            <a:rect r="r" b="b" t="t" l="l"/>
            <a:pathLst>
              <a:path h="2974446" w="3394077">
                <a:moveTo>
                  <a:pt x="0" y="0"/>
                </a:moveTo>
                <a:lnTo>
                  <a:pt x="3394077" y="0"/>
                </a:lnTo>
                <a:lnTo>
                  <a:pt x="3394077" y="2974446"/>
                </a:lnTo>
                <a:lnTo>
                  <a:pt x="0" y="2974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88894" y="1814956"/>
            <a:ext cx="4851695" cy="2875732"/>
          </a:xfrm>
          <a:custGeom>
            <a:avLst/>
            <a:gdLst/>
            <a:ahLst/>
            <a:cxnLst/>
            <a:rect r="r" b="b" t="t" l="l"/>
            <a:pathLst>
              <a:path h="2875732" w="4851695">
                <a:moveTo>
                  <a:pt x="0" y="0"/>
                </a:moveTo>
                <a:lnTo>
                  <a:pt x="4851695" y="0"/>
                </a:lnTo>
                <a:lnTo>
                  <a:pt x="4851695" y="2875731"/>
                </a:lnTo>
                <a:lnTo>
                  <a:pt x="0" y="2875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05227" y="6462760"/>
            <a:ext cx="456184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CH₃C(=O)OH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46549" y="-142875"/>
            <a:ext cx="11794902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4-</a:t>
            </a:r>
            <a:r>
              <a:rPr lang="en-US" sz="7000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ACETIC ACID (ETHANOIC ACID)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26207" y="2761649"/>
            <a:ext cx="21198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C₂H₄0₂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7346" y="8916765"/>
            <a:ext cx="8755093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2 C, 4 H, 2 O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1 C=O, 1 O-H, each O has 2 lone pairs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CH₃C(=O)OH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49962" y="5493452"/>
            <a:ext cx="5631815" cy="3041180"/>
          </a:xfrm>
          <a:custGeom>
            <a:avLst/>
            <a:gdLst/>
            <a:ahLst/>
            <a:cxnLst/>
            <a:rect r="r" b="b" t="t" l="l"/>
            <a:pathLst>
              <a:path h="3041180" w="5631815">
                <a:moveTo>
                  <a:pt x="0" y="0"/>
                </a:moveTo>
                <a:lnTo>
                  <a:pt x="5631815" y="0"/>
                </a:lnTo>
                <a:lnTo>
                  <a:pt x="5631815" y="3041181"/>
                </a:lnTo>
                <a:lnTo>
                  <a:pt x="0" y="3041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26019" y="2077884"/>
            <a:ext cx="6509338" cy="2473549"/>
          </a:xfrm>
          <a:custGeom>
            <a:avLst/>
            <a:gdLst/>
            <a:ahLst/>
            <a:cxnLst/>
            <a:rect r="r" b="b" t="t" l="l"/>
            <a:pathLst>
              <a:path h="2473549" w="6509338">
                <a:moveTo>
                  <a:pt x="0" y="0"/>
                </a:moveTo>
                <a:lnTo>
                  <a:pt x="6509338" y="0"/>
                </a:lnTo>
                <a:lnTo>
                  <a:pt x="6509338" y="2473549"/>
                </a:lnTo>
                <a:lnTo>
                  <a:pt x="0" y="2473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59900" y="114556"/>
            <a:ext cx="11968200" cy="87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5"/>
              </a:lnSpc>
            </a:pPr>
            <a:r>
              <a:rPr lang="en-US" sz="5182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5-ETHYL ACETATE (ETHYL ETHANOATE)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6207" y="2758113"/>
            <a:ext cx="219856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C₄H₈O₂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5794" y="6462760"/>
            <a:ext cx="59621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CH₃C(=O)OCH₂CH₃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0697" y="8983440"/>
            <a:ext cx="8304865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4 C, 8 H, 2 O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C=O + ether O, 4 lone pairs total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CH₃C(=O)OCH₂CH₃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29100" y="5712467"/>
            <a:ext cx="2473538" cy="2834263"/>
          </a:xfrm>
          <a:custGeom>
            <a:avLst/>
            <a:gdLst/>
            <a:ahLst/>
            <a:cxnLst/>
            <a:rect r="r" b="b" t="t" l="l"/>
            <a:pathLst>
              <a:path h="2834263" w="2473538">
                <a:moveTo>
                  <a:pt x="0" y="0"/>
                </a:moveTo>
                <a:lnTo>
                  <a:pt x="2473538" y="0"/>
                </a:lnTo>
                <a:lnTo>
                  <a:pt x="2473538" y="2834263"/>
                </a:lnTo>
                <a:lnTo>
                  <a:pt x="0" y="28342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7703" y="1820709"/>
            <a:ext cx="3559340" cy="2962778"/>
          </a:xfrm>
          <a:custGeom>
            <a:avLst/>
            <a:gdLst/>
            <a:ahLst/>
            <a:cxnLst/>
            <a:rect r="r" b="b" t="t" l="l"/>
            <a:pathLst>
              <a:path h="2962778" w="3559340">
                <a:moveTo>
                  <a:pt x="0" y="0"/>
                </a:moveTo>
                <a:lnTo>
                  <a:pt x="3559340" y="0"/>
                </a:lnTo>
                <a:lnTo>
                  <a:pt x="3559340" y="2962778"/>
                </a:lnTo>
                <a:lnTo>
                  <a:pt x="0" y="2962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1462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46383" y="-161925"/>
            <a:ext cx="7195233" cy="141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1"/>
              </a:lnSpc>
            </a:pPr>
            <a:r>
              <a:rPr lang="en-US" sz="8257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6-CYCLOHEXANE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13157" y="2651768"/>
            <a:ext cx="27105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C₆H₁₂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9696" y="6638426"/>
            <a:ext cx="57464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(CH₂)₆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983440"/>
            <a:ext cx="9416217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6 C, 12 H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each C has 2 ring bonds + 2 H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(CH₂)₆ ring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21651" y="5502917"/>
            <a:ext cx="1688437" cy="2938736"/>
          </a:xfrm>
          <a:custGeom>
            <a:avLst/>
            <a:gdLst/>
            <a:ahLst/>
            <a:cxnLst/>
            <a:rect r="r" b="b" t="t" l="l"/>
            <a:pathLst>
              <a:path h="2938736" w="1688437">
                <a:moveTo>
                  <a:pt x="0" y="0"/>
                </a:moveTo>
                <a:lnTo>
                  <a:pt x="1688437" y="0"/>
                </a:lnTo>
                <a:lnTo>
                  <a:pt x="1688437" y="2938736"/>
                </a:lnTo>
                <a:lnTo>
                  <a:pt x="0" y="2938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10267" y="1744509"/>
            <a:ext cx="3391695" cy="2920624"/>
          </a:xfrm>
          <a:custGeom>
            <a:avLst/>
            <a:gdLst/>
            <a:ahLst/>
            <a:cxnLst/>
            <a:rect r="r" b="b" t="t" l="l"/>
            <a:pathLst>
              <a:path h="2920624" w="3391695">
                <a:moveTo>
                  <a:pt x="0" y="0"/>
                </a:moveTo>
                <a:lnTo>
                  <a:pt x="3391695" y="0"/>
                </a:lnTo>
                <a:lnTo>
                  <a:pt x="3391695" y="2920624"/>
                </a:lnTo>
                <a:lnTo>
                  <a:pt x="0" y="292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1655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70161" y="-142875"/>
            <a:ext cx="7426654" cy="12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3"/>
              </a:lnSpc>
            </a:pPr>
            <a:r>
              <a:rPr lang="en-US" sz="7409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7-CYCLOHEXANONE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6207" y="2713649"/>
            <a:ext cx="22211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C₆H₁₀O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4481" y="6462760"/>
            <a:ext cx="63245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(CH₂)₅C=O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916765"/>
            <a:ext cx="8354789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6 C, H 10, 1 O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carbonyl C has no H, O has 2 lone pairs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(CH₂)₅C=O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72151" y="5485976"/>
            <a:ext cx="1417074" cy="3278389"/>
          </a:xfrm>
          <a:custGeom>
            <a:avLst/>
            <a:gdLst/>
            <a:ahLst/>
            <a:cxnLst/>
            <a:rect r="r" b="b" t="t" l="l"/>
            <a:pathLst>
              <a:path h="3278389" w="1417074">
                <a:moveTo>
                  <a:pt x="0" y="0"/>
                </a:moveTo>
                <a:lnTo>
                  <a:pt x="1417074" y="0"/>
                </a:lnTo>
                <a:lnTo>
                  <a:pt x="1417074" y="3278389"/>
                </a:lnTo>
                <a:lnTo>
                  <a:pt x="0" y="3278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39" t="0" r="-323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64676" y="1619328"/>
            <a:ext cx="2402386" cy="3286846"/>
          </a:xfrm>
          <a:custGeom>
            <a:avLst/>
            <a:gdLst/>
            <a:ahLst/>
            <a:cxnLst/>
            <a:rect r="r" b="b" t="t" l="l"/>
            <a:pathLst>
              <a:path h="3286846" w="2402386">
                <a:moveTo>
                  <a:pt x="0" y="0"/>
                </a:moveTo>
                <a:lnTo>
                  <a:pt x="2402386" y="0"/>
                </a:lnTo>
                <a:lnTo>
                  <a:pt x="2402386" y="3286846"/>
                </a:lnTo>
                <a:lnTo>
                  <a:pt x="0" y="3286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43833" y="-98843"/>
            <a:ext cx="13200334" cy="1224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88"/>
              </a:lnSpc>
            </a:pPr>
            <a:r>
              <a:rPr lang="en-US" sz="7134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8-ACETAMINOPHEN (PARACETAMOL)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5256" y="2771579"/>
            <a:ext cx="27247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C₈H₉NO₂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6021" y="6522152"/>
            <a:ext cx="7343193" cy="75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b="true" sz="4362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CH₃C(=O)NH-C₆H₄-OH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2802" y="8916765"/>
            <a:ext cx="13476113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8 C, 9 H, 1 N, 2 O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N 3 bonds + 1 lone pair, each O 2 lone pairs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NH and OH on opposite ring carbons (para), CH₃C(=O)NH-C₆H₄-OH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64707" y="5503453"/>
            <a:ext cx="2631962" cy="2900960"/>
          </a:xfrm>
          <a:custGeom>
            <a:avLst/>
            <a:gdLst/>
            <a:ahLst/>
            <a:cxnLst/>
            <a:rect r="r" b="b" t="t" l="l"/>
            <a:pathLst>
              <a:path h="2900960" w="2631962">
                <a:moveTo>
                  <a:pt x="0" y="0"/>
                </a:moveTo>
                <a:lnTo>
                  <a:pt x="2631962" y="0"/>
                </a:lnTo>
                <a:lnTo>
                  <a:pt x="2631962" y="2900960"/>
                </a:lnTo>
                <a:lnTo>
                  <a:pt x="0" y="2900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64707" y="1733212"/>
            <a:ext cx="3131941" cy="3160675"/>
          </a:xfrm>
          <a:custGeom>
            <a:avLst/>
            <a:gdLst/>
            <a:ahLst/>
            <a:cxnLst/>
            <a:rect r="r" b="b" t="t" l="l"/>
            <a:pathLst>
              <a:path h="3160675" w="3131941">
                <a:moveTo>
                  <a:pt x="0" y="0"/>
                </a:moveTo>
                <a:lnTo>
                  <a:pt x="3131942" y="0"/>
                </a:lnTo>
                <a:lnTo>
                  <a:pt x="3131942" y="3160675"/>
                </a:lnTo>
                <a:lnTo>
                  <a:pt x="0" y="316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17333" y="-142875"/>
            <a:ext cx="11532312" cy="12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3"/>
              </a:lnSpc>
            </a:pPr>
            <a:r>
              <a:rPr lang="en-US" sz="7409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9-aSPIRIN (ACETYLSALICYLIC)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73488" y="2651768"/>
            <a:ext cx="22188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C₉H₈O₄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6203" y="6524042"/>
            <a:ext cx="6761356" cy="157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b="true" sz="4520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CH₃C(=O)O-C₆H₄-C(=O)OH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926290"/>
            <a:ext cx="16230600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9 C, 8 H, 4 O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2 C=O, each O has 2 lone pairs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COOH and OC(=O)CH₃ on neighboring ring carbons (ortho), CH₃C(=O)O-C₆H₄-COOH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2439" y="1407617"/>
            <a:ext cx="7386861" cy="3470647"/>
          </a:xfrm>
          <a:custGeom>
            <a:avLst/>
            <a:gdLst/>
            <a:ahLst/>
            <a:cxnLst/>
            <a:rect r="r" b="b" t="t" l="l"/>
            <a:pathLst>
              <a:path h="3470647" w="7386861">
                <a:moveTo>
                  <a:pt x="0" y="0"/>
                </a:moveTo>
                <a:lnTo>
                  <a:pt x="7386861" y="0"/>
                </a:lnTo>
                <a:lnTo>
                  <a:pt x="7386861" y="3470648"/>
                </a:lnTo>
                <a:lnTo>
                  <a:pt x="0" y="347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65" r="0" b="-662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463472"/>
            <a:ext cx="7036362" cy="3414793"/>
          </a:xfrm>
          <a:custGeom>
            <a:avLst/>
            <a:gdLst/>
            <a:ahLst/>
            <a:cxnLst/>
            <a:rect r="r" b="b" t="t" l="l"/>
            <a:pathLst>
              <a:path h="3414793" w="7036362">
                <a:moveTo>
                  <a:pt x="0" y="0"/>
                </a:moveTo>
                <a:lnTo>
                  <a:pt x="7036362" y="0"/>
                </a:lnTo>
                <a:lnTo>
                  <a:pt x="7036362" y="3414793"/>
                </a:lnTo>
                <a:lnTo>
                  <a:pt x="0" y="3414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99" r="0" b="-635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7036362" cy="3620865"/>
          </a:xfrm>
          <a:custGeom>
            <a:avLst/>
            <a:gdLst/>
            <a:ahLst/>
            <a:cxnLst/>
            <a:rect r="r" b="b" t="t" l="l"/>
            <a:pathLst>
              <a:path h="3620865" w="7036362">
                <a:moveTo>
                  <a:pt x="0" y="0"/>
                </a:moveTo>
                <a:lnTo>
                  <a:pt x="7036362" y="0"/>
                </a:lnTo>
                <a:lnTo>
                  <a:pt x="7036362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683" r="0" b="-556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076" y="5143500"/>
            <a:ext cx="7357224" cy="3620865"/>
          </a:xfrm>
          <a:custGeom>
            <a:avLst/>
            <a:gdLst/>
            <a:ahLst/>
            <a:cxnLst/>
            <a:rect r="r" b="b" t="t" l="l"/>
            <a:pathLst>
              <a:path h="3620865" w="7357224">
                <a:moveTo>
                  <a:pt x="0" y="0"/>
                </a:moveTo>
                <a:lnTo>
                  <a:pt x="7357224" y="0"/>
                </a:lnTo>
                <a:lnTo>
                  <a:pt x="7357224" y="3620865"/>
                </a:lnTo>
                <a:lnTo>
                  <a:pt x="0" y="3620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20" r="0" b="-59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19511" y="5502917"/>
            <a:ext cx="3122354" cy="3014491"/>
          </a:xfrm>
          <a:custGeom>
            <a:avLst/>
            <a:gdLst/>
            <a:ahLst/>
            <a:cxnLst/>
            <a:rect r="r" b="b" t="t" l="l"/>
            <a:pathLst>
              <a:path h="3014491" w="3122354">
                <a:moveTo>
                  <a:pt x="0" y="0"/>
                </a:moveTo>
                <a:lnTo>
                  <a:pt x="3122354" y="0"/>
                </a:lnTo>
                <a:lnTo>
                  <a:pt x="3122354" y="3014491"/>
                </a:lnTo>
                <a:lnTo>
                  <a:pt x="0" y="301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65732" y="1400187"/>
            <a:ext cx="3535938" cy="3478077"/>
          </a:xfrm>
          <a:custGeom>
            <a:avLst/>
            <a:gdLst/>
            <a:ahLst/>
            <a:cxnLst/>
            <a:rect r="r" b="b" t="t" l="l"/>
            <a:pathLst>
              <a:path h="3478077" w="3535938">
                <a:moveTo>
                  <a:pt x="0" y="0"/>
                </a:moveTo>
                <a:lnTo>
                  <a:pt x="3535938" y="0"/>
                </a:lnTo>
                <a:lnTo>
                  <a:pt x="3535938" y="3478078"/>
                </a:lnTo>
                <a:lnTo>
                  <a:pt x="0" y="3478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84322" y="-142875"/>
            <a:ext cx="4798334" cy="12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3"/>
              </a:lnSpc>
            </a:pPr>
            <a:r>
              <a:rPr lang="en-US" sz="7409">
                <a:solidFill>
                  <a:srgbClr val="0097B2"/>
                </a:solidFill>
                <a:latin typeface="Gagalin"/>
                <a:ea typeface="Gagalin"/>
                <a:cs typeface="Gagalin"/>
                <a:sym typeface="Gagalin"/>
              </a:rPr>
              <a:t>10-CAFFEINE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21169"/>
            <a:ext cx="4795013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Molecular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4508" y="1224572"/>
            <a:ext cx="4271519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973515"/>
            <a:ext cx="6508424" cy="5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204" indent="-300102" lvl="1">
              <a:lnSpc>
                <a:spcPts val="3892"/>
              </a:lnSpc>
              <a:buAutoNum type="arabicPeriod" startAt="1"/>
            </a:pPr>
            <a:r>
              <a:rPr lang="en-US" sz="2780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Condensed Structural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4508" y="4983040"/>
            <a:ext cx="3886390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716" indent="-300358" lvl="1">
              <a:lnSpc>
                <a:spcPts val="3895"/>
              </a:lnSpc>
              <a:spcBef>
                <a:spcPct val="0"/>
              </a:spcBef>
              <a:buAutoNum type="arabicPeriod" startAt="1"/>
            </a:pPr>
            <a:r>
              <a:rPr lang="en-US" sz="2782">
                <a:solidFill>
                  <a:srgbClr val="0097B2"/>
                </a:solidFill>
                <a:latin typeface="Aloja"/>
                <a:ea typeface="Aloja"/>
                <a:cs typeface="Aloja"/>
                <a:sym typeface="Aloja"/>
              </a:rPr>
              <a:t>Bond-Line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48300" y="2918495"/>
            <a:ext cx="31971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C₈H₁₀N₄O₂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2412" y="6381072"/>
            <a:ext cx="6154713" cy="118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3"/>
              </a:lnSpc>
              <a:spcBef>
                <a:spcPct val="0"/>
              </a:spcBef>
            </a:pPr>
            <a:r>
              <a:rPr lang="en-US" b="true" sz="3366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CH₃NC(=O)C₂=C(N=CHN₂CH₃)N(CH₃)C=O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983440"/>
            <a:ext cx="10356591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Atom count verified: 8 C, 10 H, 4 N, 2 O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Valence checked: each N 3 bonds + 1 lone pair, each O 2 lone pairs</a:t>
            </a:r>
          </a:p>
          <a:p>
            <a:pPr algn="l">
              <a:lnSpc>
                <a:spcPts val="3215"/>
              </a:lnSpc>
            </a:pPr>
            <a:r>
              <a:rPr lang="en-US" sz="2296">
                <a:solidFill>
                  <a:srgbClr val="0097B2"/>
                </a:solidFill>
                <a:latin typeface="Open Sauce"/>
                <a:ea typeface="Open Sauce"/>
                <a:cs typeface="Open Sauce"/>
                <a:sym typeface="Open Sauce"/>
              </a:rPr>
              <a:t>Same connectivity confirmed: fudes 6- and 5-ring, 3 N-CH₃, 2 C=O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DAHXxRwq4yk</dc:identifier>
  <dcterms:modified xsi:type="dcterms:W3CDTF">2011-08-01T06:04:30Z</dcterms:modified>
  <cp:revision>1</cp:revision>
  <dc:title>002_molecule_representation</dc:title>
</cp:coreProperties>
</file>